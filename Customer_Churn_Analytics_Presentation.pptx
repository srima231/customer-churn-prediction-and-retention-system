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375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3052"/>
          </a:solidFill>
          <a:ln/>
        </p:spPr>
      </p:sp>
      <p:pic>
        <p:nvPicPr>
          <p:cNvPr id="4" name="Image 0" descr="assets/icon_chartlin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Detection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Retention Analytics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churn intelligence pipeline — from a MySQL data warehouse, to an interactive Power BI dashboard, to exploratory analysis in Python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62356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243758"/>
          </a:solidFill>
          <a:ln/>
        </p:spPr>
      </p:sp>
      <p:pic>
        <p:nvPicPr>
          <p:cNvPr id="9" name="Image 1" descr="assets/icon_databa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79729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29000" y="562356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243758"/>
          </a:solidFill>
          <a:ln/>
        </p:spPr>
      </p:sp>
      <p:pic>
        <p:nvPicPr>
          <p:cNvPr id="12" name="Image 2" descr="assets/icon_chartba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579729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14800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35040" y="562356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243758"/>
          </a:solidFill>
          <a:ln/>
        </p:spPr>
      </p:sp>
      <p:pic>
        <p:nvPicPr>
          <p:cNvPr id="15" name="Image 3" descr="assets/icon_pytho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579729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20840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531352" y="6355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views of the same churn problem — built, modeled, and explored across three tools.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56432" cy="3794760"/>
          </a:xfrm>
          <a:prstGeom prst="roundRect">
            <a:avLst>
              <a:gd name="adj" fmla="val 238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0" descr="assets/icon_chartb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004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794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279392"/>
            <a:ext cx="2907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5 report pages, KPIs and visuals covering the full customer churn lifecycle.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07408" y="2286000"/>
            <a:ext cx="3456432" cy="3794760"/>
          </a:xfrm>
          <a:prstGeom prst="roundRect">
            <a:avLst>
              <a:gd name="adj" fmla="val 238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81728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681728" y="30632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assets/icon_databa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20040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1728" y="3794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Analysis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81728" y="4279392"/>
            <a:ext cx="2907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warehouse and 30+ analytical SQL queries powering churn, revenue and risk insights.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74736" y="2286000"/>
            <a:ext cx="3456432" cy="3794760"/>
          </a:xfrm>
          <a:prstGeom prst="roundRect">
            <a:avLst>
              <a:gd name="adj" fmla="val 238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49056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449056" y="3063240"/>
            <a:ext cx="566928" cy="56692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21" name="Image 2" descr="assets/icon_pyth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320040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49056" y="3794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Colab EDA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449056" y="4279392"/>
            <a:ext cx="2907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in pandas &amp; matplotlib — trends, distributions and city-level revenue.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Detection &amp; Retention Analytics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Churn, Why Now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one of the most expensive problems in subscription and product-led businesses — losing an existing customer is far costlier than retaining one. 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 analytics workflow to identify </a:t>
            </a:r>
            <a:pPr indent="0" marL="0">
              <a:lnSpc>
                <a:spcPct val="135000"/>
              </a:lnSpc>
              <a:buNone/>
            </a:pPr>
            <a:r>
              <a:rPr lang="en-US" sz="1450" b="1" i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churning, </a:t>
            </a:r>
            <a:pPr indent="0" marL="0">
              <a:lnSpc>
                <a:spcPct val="135000"/>
              </a:lnSpc>
              <a:buNone/>
            </a:pPr>
            <a:r>
              <a:rPr lang="en-US" sz="1450" b="1" i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churn, and </a:t>
            </a:r>
            <a:pPr indent="0" marL="0">
              <a:lnSpc>
                <a:spcPct val="135000"/>
              </a:lnSpc>
              <a:buNone/>
            </a:pPr>
            <a:r>
              <a:rPr lang="en-US" sz="1450" b="1" i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business should focus retention effort and spend.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465576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649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churn rate, revenue at risk, and customer lifetime value loss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922776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22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churned vs. retained customers by contract, tenure, product and geography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79976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793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top churn drivers — support outcomes, payment method, contract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37176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7365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business a single, interactive dashboard for ongoing monitoring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1508760"/>
            <a:ext cx="4206240" cy="484632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 (Python EDA sample)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fact records (Fact_CustomerChurn.csv)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0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680960" y="3730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flagged Churned = "Yes"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80960" y="43068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59.9%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80960" y="4764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share in this sample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80960" y="5340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680960" y="5797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covered (Jan 2020 – Dec 2021)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Detection &amp; Retention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24375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023360" cy="4023360"/>
          </a:xfrm>
          <a:prstGeom prst="ellipse">
            <a:avLst/>
          </a:prstGeom>
          <a:solidFill>
            <a:srgbClr val="1F30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assets/icon_chartb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0266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6974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source files, and a full walkthrough of all 5 report pages.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0116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SOURCES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Files Behind the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imports four flat CSV extracts — one fact table and three dimension tables — matching the MySQL warehouse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8" name="Image 0" descr="assets/icon_tab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Fact_CustomerChurn.csv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0020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34840" y="2084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churn-event rows. One per customer–product–date combination.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52360" y="20848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ChurnID · CustomerID · ProductID · DateID · MonthlyCharge · DiscountPct/Amount · NetRevenue · TotalRevenue_Lifetime · TenureMonths · ContractType · PaymentMethod · SatisfactionScore · ChurnRisk · CLV_Estimate · Churned · ChurnReason · RetentionOfferMade · LastSupportResult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640080" y="304495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" y="32278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1" descr="assets/icon_user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6499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Dim_Customer.csv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60020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434840" y="31181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customer — demographic and account attributes.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452360" y="31181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· CustomerName · Gender · Age · Region · City · Segment · JoinDate · Churn Risk Score</a:t>
            </a:r>
            <a:endParaRPr lang="en-US" sz="870" dirty="0"/>
          </a:p>
        </p:txBody>
      </p:sp>
      <p:sp>
        <p:nvSpPr>
          <p:cNvPr id="20" name="Shape 16"/>
          <p:cNvSpPr/>
          <p:nvPr/>
        </p:nvSpPr>
        <p:spPr>
          <a:xfrm>
            <a:off x="640080" y="407822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8680" y="4261104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2" descr="assets/icon_box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9826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00200" y="4169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Dim_Product.csv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600200" y="4498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434840" y="41513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used to slice churn and revenue by offering.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452360" y="415137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· ProductName · Category · SubCategory · ContractLengthMonths</a:t>
            </a:r>
            <a:endParaRPr lang="en-US" sz="870" dirty="0"/>
          </a:p>
        </p:txBody>
      </p:sp>
      <p:sp>
        <p:nvSpPr>
          <p:cNvPr id="27" name="Shape 22"/>
          <p:cNvSpPr/>
          <p:nvPr/>
        </p:nvSpPr>
        <p:spPr>
          <a:xfrm>
            <a:off x="640080" y="511149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68680" y="5294376"/>
            <a:ext cx="548640" cy="548640"/>
          </a:xfrm>
          <a:prstGeom prst="ellipse">
            <a:avLst/>
          </a:prstGeom>
          <a:solidFill>
            <a:srgbClr val="5C6B82"/>
          </a:solidFill>
          <a:ln/>
        </p:spPr>
      </p:sp>
      <p:pic>
        <p:nvPicPr>
          <p:cNvPr id="29" name="Image 3" descr="assets/icon_calenda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31536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00200" y="5202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Dim_Date.csv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160020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434840" y="5184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calendar table for time-intelligence across all visuals.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452360" y="51846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DateID · FullDate · Year · Quarter · Month · MonthName · WeekNumber · DayOfWeek · DayName · IsWeekend · IsHoliday · FiscalYear</a:t>
            </a:r>
            <a:endParaRPr lang="en-US" sz="87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86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DATA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Data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fact table joins to three dimensions plus a dedicated Measure table holding all DAX calculations — the same structure built in MySQL.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324612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1B2A4A">
                <a:alpha val="12000"/>
              </a:srgbClr>
            </a:outerShdw>
          </a:effectLst>
        </p:spPr>
      </p:sp>
      <p:pic>
        <p:nvPicPr>
          <p:cNvPr id="7" name="Image 0" descr="assets/icon_tab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342900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74920" y="3392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fact_customerchurn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81728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CustomerID · ProductID · DateID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81728" y="4142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Churned, NetRevenue, ChurnRisk, CLV_Estimate, SatisfactionScore, TenureMonths…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7373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12" name="Image 1" descr="assets/icon_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19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1856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∞ on CustomerID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321040" y="173736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16" name="Image 2" descr="assets/icon_box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019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51392" y="1856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503920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∞ on ProductID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20" name="Image 3" descr="assets/icon_calend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5663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5010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" y="5458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∞ on DateID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321040" y="4572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1EC"/>
          </a:solidFill>
          <a:ln w="12700">
            <a:solidFill>
              <a:srgbClr val="E0623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24" name="Image 4" descr="assets/icon_bulb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73659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51392" y="4690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table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503920" y="5138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DAX measures (KPIs, %, ranks)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337560" y="2258568"/>
            <a:ext cx="1143000" cy="1353312"/>
          </a:xfrm>
          <a:prstGeom prst="line">
            <a:avLst/>
          </a:prstGeom>
          <a:noFill/>
          <a:ln w="19050">
            <a:solidFill>
              <a:srgbClr val="A9B4C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680960" y="2258568"/>
            <a:ext cx="640080" cy="1353312"/>
          </a:xfrm>
          <a:prstGeom prst="line">
            <a:avLst/>
          </a:prstGeom>
          <a:noFill/>
          <a:ln w="19050">
            <a:solidFill>
              <a:srgbClr val="A9B4C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337560" y="4617720"/>
            <a:ext cx="1417320" cy="795528"/>
          </a:xfrm>
          <a:prstGeom prst="line">
            <a:avLst/>
          </a:prstGeom>
          <a:noFill/>
          <a:ln w="19050">
            <a:solidFill>
              <a:srgbClr val="A9B4C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40080" y="6172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are one-to-many from each dimension into the fact table, enabling every visual to filter by customer, product, or date.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PAGE 1 OF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Key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landing page — the headline KPIs and top-level churn picture, filterable by year, region, gender and contract type.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044598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9656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Customers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770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Measure.Total Customers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49270" y="1783080"/>
            <a:ext cx="2044598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86430" y="1819656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Retained Customers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86430" y="2286000"/>
            <a:ext cx="1770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Measure.Retained Customers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58461" y="1783080"/>
            <a:ext cx="2044598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5621" y="1819656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95621" y="2286000"/>
            <a:ext cx="1770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Measure.Churn Rate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267651" y="1783080"/>
            <a:ext cx="2044598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4811" y="1819656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04811" y="2286000"/>
            <a:ext cx="1770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Measure.Total Revenue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476842" y="1783080"/>
            <a:ext cx="2044598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14002" y="1819656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at Risk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14002" y="2286000"/>
            <a:ext cx="1770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Measure.Revenue at Risk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288950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0" descr="assets/icon_chartlin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990088"/>
            <a:ext cx="182880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4672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Churned Customers by Month / Day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4672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Date Hierarchy (Month, Day)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churn pacing across 2020–2021.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334256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98848" y="288950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9" name="Image 1" descr="assets/icon_chartpi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990088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974336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498848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Gender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4498848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dim_customer.Gender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of churned base.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8028432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193024" y="288950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5" name="Image 2" descr="assets/icon_chartba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90088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668512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COLUMN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193024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Contract Type &amp; Revenue Loss by Category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8193024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ContractType →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dim_product.Category → Revenue Loss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charts side-by-side on the page.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40080" y="5175504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1EC"/>
          </a:solidFill>
          <a:ln/>
        </p:spPr>
      </p:sp>
      <p:pic>
        <p:nvPicPr>
          <p:cNvPr id="40" name="Image 3" descr="assets/icon_bulb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03520"/>
            <a:ext cx="292608" cy="29260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slicers (Year, Region, Gender, ContractType) let any stakeholder filter every visual on this page simultaneously — this is the page a stakeholder opens first.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PAGE 2 OF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the RETAINED customer base — tenure, payment behavior, contract mix and product preference among active customers.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17392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9656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Customers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24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Measure.Total Customers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22064" y="1783080"/>
            <a:ext cx="3517392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59224" y="1819656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59224" y="2286000"/>
            <a:ext cx="324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Measure.Total Revenue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04048" y="1783080"/>
            <a:ext cx="3517392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1208" y="1819656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Monthly Charge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41208" y="2286000"/>
            <a:ext cx="324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Measure.Avg Monthly Charge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288950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0" descr="assets/icon_chartb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990088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0160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+ DONUT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Customers by Tenure Band &amp; Gender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Band → Active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→ Active Customers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34256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98848" y="288950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1" descr="assets/icon_chartb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990088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74336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+ BAR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98848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Customers by Payment Method &amp; Support Result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498848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 → Active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LastSupportResult → Active Customers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028432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193024" y="288950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9" name="Image 2" descr="assets/icon_chartpi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9008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68512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+ CLUSTERED BAR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193024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Mix &amp; Retention Offer Response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193024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ContractType → Active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RetentionOfferMade → Active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→ Active Customers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" y="5175504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1EC"/>
          </a:solidFill>
          <a:ln/>
        </p:spPr>
      </p:sp>
      <p:pic>
        <p:nvPicPr>
          <p:cNvPr id="34" name="Image 3" descr="assets/icon_bulb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0352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mirrors the Churn Analysis page exactly — same chart types, opposite filter — so retained vs. churned profiles can be compared side-by-side.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PAGE 3 OF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profile of the CHURNED customer base — isolates which tenure bands, payment methods, segments and support outcomes correlate with churn.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17392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9656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Churned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24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Measure.Total churned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22064" y="1783080"/>
            <a:ext cx="3517392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59224" y="1819656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Revenue Loss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59224" y="2286000"/>
            <a:ext cx="324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Measure.Churn Revenue Loss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04048" y="1783080"/>
            <a:ext cx="3517392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1208" y="1819656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Monthly Charge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41208" y="2286000"/>
            <a:ext cx="3243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Measure.Avg Monthly Charge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2889504"/>
            <a:ext cx="384048" cy="38404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17" name="Image 0" descr="assets/icon_chartb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990088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0160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+ DONUT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Churned Customers by Tenure Band &amp; Gender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4672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Band →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→ Churned Customers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34256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98848" y="2889504"/>
            <a:ext cx="384048" cy="38404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23" name="Image 1" descr="assets/icon_chartb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990088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74336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DONUT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98848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Payment Method &amp; Support Result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498848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 →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LastSupportResult → Churned Customers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028432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193024" y="2889504"/>
            <a:ext cx="384048" cy="38404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29" name="Image 2" descr="assets/icon_chartpi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9008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68512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+ COLUMN + BAR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193024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Contract Type, Segment &amp; Product SubCategory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193024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ContractType →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dim_customer.Segment → Churned Customers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→ Churned Customers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" y="5175504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1EC"/>
          </a:solidFill>
          <a:ln/>
        </p:spPr>
      </p:sp>
      <p:pic>
        <p:nvPicPr>
          <p:cNvPr id="34" name="Image 3" descr="assets/icon_bulb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0352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direct mirror of Page 2 — any bar that looks disproportionately tall here versus the retained-customer page flags a likely churn driver.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PAGE 4 OF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and Segment Deep-Dive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Cross-cuts churn and revenue by product, category and customer segment to find where risk and value concentrate.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Revenue %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Measure.Product Revenue 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8728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Product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38728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Measure.Total Product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63056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Product Churn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0216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Measure.Avg Product Churn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924544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61704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Churned Products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61704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Measure.Churned products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8895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0" descr="assets/icon_chartpi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990088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Risk-vs-Revenue Map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ProductName · Y: Avg Churn Risk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Sum(NetRevenue) · Series: Category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revenue, position = risk.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34256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498848" y="28895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1" descr="assets/icon_chartb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990088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74336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+ COMBO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498848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% by Category &amp; Contract Length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498848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Churn Rate 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ContractLengthMonths → Total Customers (col) + Churn Rate % (line)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028432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193024" y="28895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2" name="Image 2" descr="assets/icon_tab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90088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668512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193024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Churn Rate % — Category x Segment Matrix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8193024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Category · Columns: Segment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Product Churn Rate %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40080" y="5175504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1EC"/>
          </a:solidFill>
          <a:ln/>
        </p:spPr>
      </p:sp>
      <p:pic>
        <p:nvPicPr>
          <p:cNvPr id="37" name="Image 3" descr="assets/icon_bulb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03520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chart is the standout visual — it shows simultaneously which products carry high revenue, high churn risk, or both, in one view.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PAGE 5 OF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Strategy &amp; Relief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 page — quantifies savings potential, isolates high-risk customers, and breaks down where revenue loss originates.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Savings (10%)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Measure.Potention Savings 10%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8728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Risk Score Count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38728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CountNonNull(Churn Risk Score)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63056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Churn Risk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0216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Measure.Avg Churn Risk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924544" y="1783080"/>
            <a:ext cx="2596896" cy="768096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61704" y="18196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Rate %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61704" y="22860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Measure.Retention Rate 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889504"/>
            <a:ext cx="384048" cy="38404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20" name="Image 0" descr="assets/icon_warn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990088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Customer % vs. Target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high risk 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Risk target 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risk levels against a set goal.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34256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498848" y="2889504"/>
            <a:ext cx="384048" cy="38404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26" name="Image 1" descr="assets/icon_site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990088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74336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498848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Loss Root-Cause Explorer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498848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Analyze: Revenue Loss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by: Category → Segment → PaymentMethod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top-down into loss drivers.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028432" y="2724912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193024" y="2889504"/>
            <a:ext cx="384048" cy="384048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32" name="Image 2" descr="assets/icon_tab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90088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668512" y="2862072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193024" y="331927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Customers by Day &amp; Month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8193024" y="384048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MonthName · Columns: Day Name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High Risk Customers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40080" y="5175504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1EC"/>
          </a:solidFill>
          <a:ln/>
        </p:spPr>
      </p:sp>
      <p:pic>
        <p:nvPicPr>
          <p:cNvPr id="37" name="Image 3" descr="assets/icon_bulb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03520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tree turns this from a reporting page into a diagnostic tool — leadership can click to drill from total revenue loss down to its root cause.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24375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023360" cy="4023360"/>
          </a:xfrm>
          <a:prstGeom prst="ellipse">
            <a:avLst/>
          </a:prstGeom>
          <a:solidFill>
            <a:srgbClr val="1F30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assets/icon_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0266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6974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Analysis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warehouse setup and the analytical query library behind every KPI.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• DATABASE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Customer_Churn Database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Customer_Churn_MYSQL.sql builds the same star schema used by Power BI directly in MySQL, then runs 30+ analytical queries against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40280"/>
            <a:ext cx="457200" cy="457200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8" name="Image 0" descr="assets/icon_tab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591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fact_customerchurn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transactional / churn-event table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2402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assets/icon_user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3591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account info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22402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assets/icon_box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591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06840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08008" y="2240280"/>
            <a:ext cx="457200" cy="457200"/>
          </a:xfrm>
          <a:prstGeom prst="ellipse">
            <a:avLst/>
          </a:prstGeom>
          <a:solidFill>
            <a:srgbClr val="5C6B82"/>
          </a:solidFill>
          <a:ln/>
        </p:spPr>
      </p:sp>
      <p:pic>
        <p:nvPicPr>
          <p:cNvPr id="23" name="Image 3" descr="assets/icon_calenda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35915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1897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dimension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0080" y="384048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840480"/>
            <a:ext cx="2286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 PERFORMED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416052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Customer_Churn;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760720" y="4160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target database before running any analysis.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40080" y="4700016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" y="4700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dim_customer MODIFY COLUMN joindate DATE;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76072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join-date column type for accurate date logic.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40080" y="523951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35" name="Text 29"/>
          <p:cNvSpPr/>
          <p:nvPr/>
        </p:nvSpPr>
        <p:spPr>
          <a:xfrm>
            <a:off x="82296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dim_date MODIFY COLUMN FullDate DATE;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760720" y="52395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calendar table supports date functions (DAYOFWEEK, etc.).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40080" y="5779008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38" name="Text 32"/>
          <p:cNvSpPr/>
          <p:nvPr/>
        </p:nvSpPr>
        <p:spPr>
          <a:xfrm>
            <a:off x="822960" y="57790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dim_date; / DESC dim_customer;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5760720" y="57790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table structure before writing analytical queries.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Analysis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86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• QUERY LIBRARY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 Analytical Queries, Five Themes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in the script falls into one of five analytical themes — from headline KPIs to advanced window-function analytics.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24028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0" descr="assets/icon_perce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500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KPIs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" y="3246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queries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36118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Active / Churned customers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86384" y="427024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&amp; churn rate %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786384" y="492861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age, tenure, satisfaction, churn risk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2852928" y="20574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17520" y="224028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1" descr="assets/icon_chartb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35000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99232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&amp; Breakdown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99232" y="3246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queries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999232" y="36118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contract type, city, product</a:t>
            </a:r>
            <a:endParaRPr lang="en-US" sz="870" dirty="0"/>
          </a:p>
        </p:txBody>
      </p:sp>
      <p:sp>
        <p:nvSpPr>
          <p:cNvPr id="20" name="Text 16"/>
          <p:cNvSpPr/>
          <p:nvPr/>
        </p:nvSpPr>
        <p:spPr>
          <a:xfrm>
            <a:off x="2999232" y="427024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citizens, high-risk customers</a:t>
            </a:r>
            <a:endParaRPr lang="en-US" sz="870" dirty="0"/>
          </a:p>
        </p:txBody>
      </p:sp>
      <p:sp>
        <p:nvSpPr>
          <p:cNvPr id="21" name="Text 17"/>
          <p:cNvSpPr/>
          <p:nvPr/>
        </p:nvSpPr>
        <p:spPr>
          <a:xfrm>
            <a:off x="2999232" y="492861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risk, revenue lost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5065776" y="20574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30368" y="2240280"/>
            <a:ext cx="420624" cy="420624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24" name="Image 2" descr="assets/icon_sta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235000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12080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&amp; Window Functions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212080" y="3246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queries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212080" y="36118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/ DENSE_RANK() top customers</a:t>
            </a:r>
            <a:endParaRPr lang="en-US" sz="870" dirty="0"/>
          </a:p>
        </p:txBody>
      </p:sp>
      <p:sp>
        <p:nvSpPr>
          <p:cNvPr id="28" name="Text 23"/>
          <p:cNvSpPr/>
          <p:nvPr/>
        </p:nvSpPr>
        <p:spPr>
          <a:xfrm>
            <a:off x="5212080" y="427024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CLV customers</a:t>
            </a:r>
            <a:endParaRPr lang="en-US" sz="870" dirty="0"/>
          </a:p>
        </p:txBody>
      </p:sp>
      <p:sp>
        <p:nvSpPr>
          <p:cNvPr id="29" name="Text 24"/>
          <p:cNvSpPr/>
          <p:nvPr/>
        </p:nvSpPr>
        <p:spPr>
          <a:xfrm>
            <a:off x="5212080" y="492861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ranking by satisfaction</a:t>
            </a:r>
            <a:endParaRPr lang="en-US" sz="870" dirty="0"/>
          </a:p>
        </p:txBody>
      </p:sp>
      <p:sp>
        <p:nvSpPr>
          <p:cNvPr id="30" name="Shape 25"/>
          <p:cNvSpPr/>
          <p:nvPr/>
        </p:nvSpPr>
        <p:spPr>
          <a:xfrm>
            <a:off x="7278624" y="20574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443216" y="2240280"/>
            <a:ext cx="420624" cy="420624"/>
          </a:xfrm>
          <a:prstGeom prst="ellipse">
            <a:avLst/>
          </a:prstGeom>
          <a:solidFill>
            <a:srgbClr val="5C6B82"/>
          </a:solidFill>
          <a:ln/>
        </p:spPr>
      </p:sp>
      <p:pic>
        <p:nvPicPr>
          <p:cNvPr id="32" name="Image 3" descr="assets/icon_diagram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2350008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4928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&amp; Customer 360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424928" y="3246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queries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7424928" y="36118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 incl. non-churned (LEFT JOIN)</a:t>
            </a:r>
            <a:endParaRPr lang="en-US" sz="870" dirty="0"/>
          </a:p>
        </p:txBody>
      </p:sp>
      <p:sp>
        <p:nvSpPr>
          <p:cNvPr id="36" name="Text 30"/>
          <p:cNvSpPr/>
          <p:nvPr/>
        </p:nvSpPr>
        <p:spPr>
          <a:xfrm>
            <a:off x="7424928" y="427024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churn records</a:t>
            </a:r>
            <a:endParaRPr lang="en-US" sz="870" dirty="0"/>
          </a:p>
        </p:txBody>
      </p:sp>
      <p:sp>
        <p:nvSpPr>
          <p:cNvPr id="37" name="Text 31"/>
          <p:cNvSpPr/>
          <p:nvPr/>
        </p:nvSpPr>
        <p:spPr>
          <a:xfrm>
            <a:off x="7424928" y="492861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reasons</a:t>
            </a:r>
            <a:endParaRPr lang="en-US" sz="870" dirty="0"/>
          </a:p>
        </p:txBody>
      </p:sp>
      <p:sp>
        <p:nvSpPr>
          <p:cNvPr id="38" name="Shape 32"/>
          <p:cNvSpPr/>
          <p:nvPr/>
        </p:nvSpPr>
        <p:spPr>
          <a:xfrm>
            <a:off x="9491472" y="2057400"/>
            <a:ext cx="2066544" cy="4023360"/>
          </a:xfrm>
          <a:prstGeom prst="roundRect">
            <a:avLst>
              <a:gd name="adj" fmla="val 354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656064" y="224028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0" name="Image 4" descr="assets/icon_chartlin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2350008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37776" y="2743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&amp; Advanced Analytics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9637776" y="3246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queries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9637776" y="36118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&amp; churn (running totals)</a:t>
            </a:r>
            <a:endParaRPr lang="en-US" sz="870" dirty="0"/>
          </a:p>
        </p:txBody>
      </p:sp>
      <p:sp>
        <p:nvSpPr>
          <p:cNvPr id="44" name="Text 37"/>
          <p:cNvSpPr/>
          <p:nvPr/>
        </p:nvSpPr>
        <p:spPr>
          <a:xfrm>
            <a:off x="9637776" y="427024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churn</a:t>
            </a:r>
            <a:endParaRPr lang="en-US" sz="870" dirty="0"/>
          </a:p>
        </p:txBody>
      </p:sp>
      <p:sp>
        <p:nvSpPr>
          <p:cNvPr id="45" name="Text 38"/>
          <p:cNvSpPr/>
          <p:nvPr/>
        </p:nvSpPr>
        <p:spPr>
          <a:xfrm>
            <a:off x="9637776" y="492861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3-period moving average of monthly charge</a:t>
            </a:r>
            <a:endParaRPr lang="en-US" sz="870" dirty="0"/>
          </a:p>
        </p:txBody>
      </p:sp>
      <p:sp>
        <p:nvSpPr>
          <p:cNvPr id="46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Analysis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5603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• FEATURED QUERIES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Queries Worth a Closer Look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11296" cy="4434840"/>
          </a:xfrm>
          <a:prstGeom prst="roundRect">
            <a:avLst>
              <a:gd name="adj" fmla="val 2083"/>
            </a:avLst>
          </a:prstGeom>
          <a:solidFill>
            <a:srgbClr val="0F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5564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High-Risk, High-Revenue 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145536" cy="2331720"/>
          </a:xfrm>
          <a:prstGeom prst="roundRect">
            <a:avLst>
              <a:gd name="adj" fmla="val 1961"/>
            </a:avLst>
          </a:prstGeom>
          <a:solidFill>
            <a:srgbClr val="08102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59152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CustomerID, NetRevenue, ChurnRisk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fact_customerchurn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ChurnRisk &gt; 0.70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NetRevenue &gt; (SELECT AVG(NetRevenue)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FROM fact_customerchurn);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22960" y="4773168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i="1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correlated subquery flags customers who are simultaneously above-average value AND high churn risk — the priority retention list.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34256" y="1600200"/>
            <a:ext cx="3511296" cy="4434840"/>
          </a:xfrm>
          <a:prstGeom prst="roundRect">
            <a:avLst>
              <a:gd name="adj" fmla="val 2083"/>
            </a:avLst>
          </a:prstGeom>
          <a:solidFill>
            <a:srgbClr val="0F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75564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Revenue Over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17136" y="2286000"/>
            <a:ext cx="3145536" cy="2331720"/>
          </a:xfrm>
          <a:prstGeom prst="roundRect">
            <a:avLst>
              <a:gd name="adj" fmla="val 1961"/>
            </a:avLst>
          </a:prstGeom>
          <a:solidFill>
            <a:srgbClr val="081020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2359152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d.MonthName, SUM(f.NetRevenue) AS MonthlyRevenue,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SUM(SUM(f.NetRevenue)) OVER (ORDER BY d.Month)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cumulative_revenue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fact_customerchurn f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dim_date d ON f.DateID = d.DateID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d.Month, d.MonthName ORDER BY d.Month;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517136" y="4773168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i="1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function (SUM...OVER) builds a running revenue total directly in SQL — no spreadsheet needed.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28432" y="1600200"/>
            <a:ext cx="3511296" cy="4434840"/>
          </a:xfrm>
          <a:prstGeom prst="roundRect">
            <a:avLst>
              <a:gd name="adj" fmla="val 2083"/>
            </a:avLst>
          </a:prstGeom>
          <a:solidFill>
            <a:srgbClr val="0F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75564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3-Period Moving Average of Charges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11312" y="2286000"/>
            <a:ext cx="3145536" cy="2331720"/>
          </a:xfrm>
          <a:prstGeom prst="roundRect">
            <a:avLst>
              <a:gd name="adj" fmla="val 1961"/>
            </a:avLst>
          </a:prstGeom>
          <a:solidFill>
            <a:srgbClr val="081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359152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d.FullDate, AVG(f.MonthlyCharge) AS charge,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AVG(AVG(f.MonthlyCharge)) OVER (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d.FullDate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BETWEEN 2 PRECEDING AND CURRENT ROW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moving_avg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fact_customerchurn f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dim_date d ON f.DateID = d.DateID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8F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d.FullDate ORDER BY d.FullDate;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8211312" y="4773168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i="1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daily charge volatility with a rolling 3-day average — classic time-series technique, done natively in MySQL.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24375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023360" cy="4023360"/>
          </a:xfrm>
          <a:prstGeom prst="ellipse">
            <a:avLst/>
          </a:prstGeom>
          <a:solidFill>
            <a:srgbClr val="1F30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assets/icon_pytho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0266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6974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Colab EDA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pandas, matplotlib and Plotly — chart by chart.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4688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COLAB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Customer_churn_analysis.ipynb loads the same Fact_CustomerChurn and Dim_* CSVs into pandas, merges them, and visualizes churn patterns with matplotlib and Plotly.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E062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96896" y="235915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0" descr="assets/icon_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336" y="245059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Merge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401568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loads Fact_CustomerChurn, Dim_Date, Dim_Customer, Dim_Product. Merged on DateID / CustomerID / ProductID.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456432" y="21488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39312" y="2331720"/>
            <a:ext cx="502920" cy="502920"/>
          </a:xfrm>
          <a:prstGeom prst="ellipse">
            <a:avLst/>
          </a:prstGeom>
          <a:solidFill>
            <a:srgbClr val="E0623A"/>
          </a:solidFill>
          <a:ln/>
        </p:spPr>
      </p:sp>
      <p:sp>
        <p:nvSpPr>
          <p:cNvPr id="15" name="Text 12"/>
          <p:cNvSpPr/>
          <p:nvPr/>
        </p:nvSpPr>
        <p:spPr>
          <a:xfrm>
            <a:off x="363931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13248" y="235915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1" descr="assets/icon_filt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45059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39312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Filter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639312" y="3401568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FullDate cast to datetime; DayOfWeek strings cleaned of stray tabs; churn = df[df['Churned']=='Yes'] isolates 599 churned rows.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272784" y="21488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55664" y="2331720"/>
            <a:ext cx="502920" cy="502920"/>
          </a:xfrm>
          <a:prstGeom prst="ellipse">
            <a:avLst/>
          </a:prstGeom>
          <a:solidFill>
            <a:srgbClr val="E0623A"/>
          </a:solidFill>
          <a:ln/>
        </p:spPr>
      </p:sp>
      <p:sp>
        <p:nvSpPr>
          <p:cNvPr id="22" name="Text 18"/>
          <p:cNvSpPr/>
          <p:nvPr/>
        </p:nvSpPr>
        <p:spPr>
          <a:xfrm>
            <a:off x="6455664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8229600" y="235915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2" descr="assets/icon_chartli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45059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55664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55664" y="3401568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on Month, DayOfWeek and City to build monthly churn trend, daily churn counts, and city-level revenue tables.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9089136" y="21488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272016" y="2331720"/>
            <a:ext cx="502920" cy="502920"/>
          </a:xfrm>
          <a:prstGeom prst="ellipse">
            <a:avLst/>
          </a:prstGeom>
          <a:solidFill>
            <a:srgbClr val="E0623A"/>
          </a:solidFill>
          <a:ln/>
        </p:spPr>
      </p:sp>
      <p:sp>
        <p:nvSpPr>
          <p:cNvPr id="29" name="Text 24"/>
          <p:cNvSpPr/>
          <p:nvPr/>
        </p:nvSpPr>
        <p:spPr>
          <a:xfrm>
            <a:off x="9272016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11045952" y="2359152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3" descr="assets/icon_chartba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245059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72016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9272016" y="3401568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trend/bar/pie/histogram charts; Plotly Express for an interactive horizontal revenue-by-city bar chart.</a:t>
            </a:r>
            <a:endParaRPr lang="en-US" sz="980" dirty="0"/>
          </a:p>
        </p:txBody>
      </p:sp>
      <p:sp>
        <p:nvSpPr>
          <p:cNvPr id="34" name="Text 28"/>
          <p:cNvSpPr/>
          <p:nvPr/>
        </p:nvSpPr>
        <p:spPr>
          <a:xfrm>
            <a:off x="64008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pandas · matplotlib.pyplot · plotly.express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4688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COLAB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Customer Churn Trend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/ LINE CHART · plt.fill_between + plt.plot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monthly_churn = (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churn.sort_values('FullDate')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.assign(Month=lambda x: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x['FullDate'].dt.strftime('%b %y'))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.groupby('Month', sort=False)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.size()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.reset_index(name='churncount')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plt.fill_between(monthly_churn['Month'],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monthly_churn['churncount'],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color='lightgreen', alpha=0.5)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plt.plot(monthly_churn['Month'],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monthly_churn['churncount'],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color='green', linewidth=2)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9" name="Image 0" descr="assets/icon_chartpi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69164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167335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assets/icon_chartlin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83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6733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44768" y="224028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24-month series (Jan 2020 – Dec 2021) of churn counts, with each point data-labeled directly on the chart.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ranges from a low of 17 (Nov 2020) to a high of 35 (Jul 2020), with a second peak of 32 in Sep 2020 and 31 in Sep 2021.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9560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1EC"/>
          </a:solidFill>
          <a:ln/>
        </p:spPr>
      </p:sp>
      <p:pic>
        <p:nvPicPr>
          <p:cNvPr id="15" name="Image 2" descr="assets/icon_bulb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852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956048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spikes consistently around mid-to-late Q3 (Jul–Sep) in both years — a seasonal pattern worth investigating against contract renewal cycles or seasonal pricing.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4688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COLAB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Customer Churn by Day of Week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plt.bar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df['DayOfWeek'] = (df['DayOfWeek']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.str.replace('\t', '', regex=False)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.str.strip())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= (df[df['Churned']=='Yes']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.groupby('DayOfWeek').size()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.reindex(['Monday','Tuesday','Wednesday',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'Thursday','Friday','Saturday','Sunday'])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.fillna(0))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plt.bar(daily.index, daily.values)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plt.title('Daily Customer churn')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9" name="Image 0" descr="assets/icon_chartpi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69164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1673352"/>
            <a:ext cx="402336" cy="402336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11" name="Image 1" descr="assets/icon_chartlin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83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6733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44768" y="224028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counts by weekday across the full dataset: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82 · Tuesday 88 · Wednesday 90 · Thursday 94 · Friday 92 · Saturday 81 · Sunday 72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9560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1EC"/>
          </a:solidFill>
          <a:ln/>
        </p:spPr>
      </p:sp>
      <p:pic>
        <p:nvPicPr>
          <p:cNvPr id="15" name="Image 2" descr="assets/icon_bulb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852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956048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peaks midweek (Thursday: 94) and dips on Sunday (72) — mirroring the Power BI "weekday vs weekend" query, both confirm churn is a weekday-dominant behavior, not a weekend one.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4688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COLAB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Distribution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· plt.pie with wedgeprops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df['Churned'].value_counts()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plt.pie(counts, labels=counts.index,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autopct='%1.1f%%', startangle=90,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wedgeprops=dict(width=0.5),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explode=[0.05, 0])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plt.title('Customer churn Distribution')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9" name="Image 0" descr="assets/icon_chartpi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69164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167335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assets/icon_chartlin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83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6733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44768" y="224028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split across all 1,000 fact records: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(Yes): 599 customers — 59.9%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(No): 401 customers — 40.1%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"Yes" wedge is pulled out slightly (explode) to draw attention to 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9560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1EC"/>
          </a:solidFill>
          <a:ln/>
        </p:spPr>
      </p:sp>
      <p:pic>
        <p:nvPicPr>
          <p:cNvPr id="15" name="Image 2" descr="assets/icon_bulb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852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956048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6 in 10 records in this sample are churned — a notably high churn rate that frames every other chart in this analysis: retention is the central problem, not an edge case.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4688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COLAB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by City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· Plotly Express (px.bar)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= (df.groupby('City')['NetRevenue']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.sum().sort_values().reset_index())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px.bar(Revenue, x='NetRevenue', y='City',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orientation='h', color='City',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title='Net Revenue by city')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fig.show()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9" name="Image 0" descr="assets/icon_chartpi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69164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167335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assets/icon_chartlin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83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6733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44768" y="224028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ranked by total net revenue, ascending: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₹1.38L · Mumbai ₹1.80L · Pune ₹1.84L · Jaipur ₹1.88L · Hyderabad ₹2.34L · Surat ₹2.39L · Bangalore ₹2.41L · Kolkata ₹2.60L · Delhi ₹2.61L · Ahmedabad ₹2.74L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9560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1EC"/>
          </a:solidFill>
          <a:ln/>
        </p:spPr>
      </p:sp>
      <p:pic>
        <p:nvPicPr>
          <p:cNvPr id="15" name="Image 2" descr="assets/icon_bulb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852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956048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Ahmedabad, Delhi and Kolkata generate the most net revenue, while Chennai trails by nearly 2x — this directly informs which cities carry the highest revenue-at-risk if churn isn't addressed there.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4688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COLAB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Distribution — Churned Customers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· plt.hist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plt.hist(churn['NetRevenue'], bins=20)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'Net Revenue Distribution '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'for churned customers')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plt.xlabel('Net Revenue')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plt.ylabel('Number of Churned Customers')</a:t>
            </a:r>
            <a:endParaRPr lang="en-US" sz="86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9" name="Image 0" descr="assets/icon_chartpi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69164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1673352"/>
            <a:ext cx="402336" cy="402336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11" name="Image 1" descr="assets/icon_chartlin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83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6733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44768" y="224028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20-bin histogram of NetRevenue across the 599 churned customers, revealing the underlying shape of how much revenue each churned customer was contributing.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shows two visible groupings rather than one smooth peak.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9560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1EC"/>
          </a:solidFill>
          <a:ln/>
        </p:spPr>
      </p:sp>
      <p:pic>
        <p:nvPicPr>
          <p:cNvPr id="15" name="Image 2" descr="assets/icon_bulb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852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956048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bimodal shape suggests at least two distinct churned-customer profiles — likely a lower-value segment and a separate higher-value segment — each may need a different retention offer.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Colab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887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All Three Tools Agree 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MySQL and the Python EDA converge on the same set of findings from three different angles.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E0623A"/>
          </a:solidFill>
          <a:ln/>
        </p:spPr>
      </p:sp>
      <p:pic>
        <p:nvPicPr>
          <p:cNvPr id="8" name="Image 0" descr="assets/icon_warn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505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04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high, not marginal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churn share in the working sample (Power BI cards, SQL churn-rate query, and the Python donut chart all align).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172200" y="21031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3317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assets/icon_calend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5059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304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has a weekly and seasonal rhythm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00800" y="29718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Midweek (Thu) churns more than weekends; Jul–Sep shows recurring spikes — confirmed in both SQL's weekday query and the Python bar chart.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assets/icon_ma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702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concentration is uneven by city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68680" y="49377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Ahmedabad, Delhi and Kolkata lead net revenue; Power BI's city analysis and the Colab Plotly chart tell the same story.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617220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assets/icon_chartpi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416552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42702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churned customers look alike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00800" y="49377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bimodal revenue histogram plus the Product Risk-vs-Revenue scatter both suggest distinct churn segments needing different offers.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Recommendations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24375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2801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high-risk / high-revenue segment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SQL "high-risk high-revenue" query and the Power BI decomposition tree to build a targeted save-desk outreach list.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7706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retention campaigns around the Jul–Sep risk window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1821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SQL monthly cumulative-churn query and the Python trend chart show a recurring seasonal spike to get ahead of.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08760" y="38496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offers by churned-customer profile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2611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bimodal revenue histogram suggests at least two segments — a single generic discount likely under-serves one of them.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9286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492861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Operationalize the 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3400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6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refresh of the Power BI model against live MySQL data so Page 1's KPIs stay current for ongoing monitoring.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Recommendations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375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3052"/>
          </a:solidFill>
          <a:ln/>
        </p:spPr>
      </p:sp>
      <p:pic>
        <p:nvPicPr>
          <p:cNvPr id="4" name="Image 0" descr="assets/icon_handshak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1031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1089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3931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Detection &amp; Retention Analytics  ·  Power BI · MySQL ·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Detection &amp; Retention Analytics</dc:title>
  <dc:subject>PptxGenJS Presentation</dc:subject>
  <dc:creator>Customer Churn Analytics</dc:creator>
  <cp:lastModifiedBy>Customer Churn Analytics</cp:lastModifiedBy>
  <cp:revision>1</cp:revision>
  <dcterms:created xsi:type="dcterms:W3CDTF">2026-06-29T10:29:35Z</dcterms:created>
  <dcterms:modified xsi:type="dcterms:W3CDTF">2026-06-29T10:29:35Z</dcterms:modified>
</cp:coreProperties>
</file>